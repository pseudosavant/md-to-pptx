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18F045-DADE-49A8-832A-D11FD861333D}" v="4" dt="2026-04-21T00:56:50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 Ellis" userId="ca23b53402098f5d" providerId="LiveId" clId="{C22253AC-51E4-4FFF-AED1-73FD0FCB3816}"/>
    <pc:docChg chg="modSld">
      <pc:chgData name="Paul Ellis" userId="ca23b53402098f5d" providerId="LiveId" clId="{C22253AC-51E4-4FFF-AED1-73FD0FCB3816}" dt="2026-04-21T00:56:50.081" v="3"/>
      <pc:docMkLst>
        <pc:docMk/>
      </pc:docMkLst>
      <pc:sldChg chg="setBg">
        <pc:chgData name="Paul Ellis" userId="ca23b53402098f5d" providerId="LiveId" clId="{C22253AC-51E4-4FFF-AED1-73FD0FCB3816}" dt="2026-04-21T00:56:50.081" v="3"/>
        <pc:sldMkLst>
          <pc:docMk/>
          <pc:sldMk cId="2493188051" sldId="25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4714B-36C0-4F55-B631-095697B05A1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6CCCC-FE4E-4EBC-950A-C6FE45FB0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89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Title Slide layout selected in slide front matter.</a:t>
            </a:r>
          </a:p>
          <a:p>
            <a:r>
              <a:t>- H1 slide title mapped to the title placeholder.</a:t>
            </a:r>
          </a:p>
          <a:p>
            <a:r>
              <a:t>- Body text mapped to the subtitle placeholder.</a:t>
            </a:r>
          </a:p>
          <a:p>
            <a:r>
              <a:t>- Deck-level front matter for aspect ratio, fonts, color scheme, and a document linear-gradient background.</a:t>
            </a:r>
          </a:p>
          <a:p>
            <a:r>
              <a:t>- Theme color references inside gradients via var(--accent-1) style syntax.</a:t>
            </a:r>
          </a:p>
          <a:p>
            <a:r>
              <a:t>- Speaker notes stored from slide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Section Header layout selected in slide front matter.</a:t>
            </a:r>
          </a:p>
          <a:p>
            <a:r>
              <a:t>- Slide-level gradient background override using restricted CSS-like syntax.</a:t>
            </a:r>
          </a:p>
          <a:p>
            <a:r>
              <a:t>- Body content mapped to the subtitle/body placeholder for this layout.</a:t>
            </a:r>
          </a:p>
          <a:p>
            <a:r>
              <a:t>- Title uses the Headings font from deck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Default Title and Content layout.</a:t>
            </a:r>
          </a:p>
          <a:p>
            <a:r>
              <a:t>- Slide-level title_color and body_color overrides for placeholder text.</a:t>
            </a:r>
          </a:p>
          <a:p>
            <a:r>
              <a:t>- Theme color references for placeholder text using var(--theme-slot) syntax.</a:t>
            </a:r>
          </a:p>
          <a:p>
            <a:r>
              <a:t>- Standard paragraphs in the body placeholder.</a:t>
            </a:r>
          </a:p>
          <a:p>
            <a:r>
              <a:t>- Inline strong, emphasis, and inline code formatting.</a:t>
            </a:r>
          </a:p>
          <a:p>
            <a:r>
              <a:t>- Markdown links rendered inside text flow.</a:t>
            </a:r>
          </a:p>
          <a:p>
            <a:r>
              <a:t>- Deck-level Body and Headings font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H2 through H6 stay within the current slide body instead of starting new slides.</a:t>
            </a:r>
          </a:p>
          <a:p>
            <a:r>
              <a:t>- Body headings use the Headings font while body paragraphs use the Body font.</a:t>
            </a:r>
          </a:p>
          <a:p>
            <a:r>
              <a:t>- Descending heading sizes are applied within one text-flow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Unordered lists and ordered lists in the same Title and Content slide.</a:t>
            </a:r>
          </a:p>
          <a:p>
            <a:r>
              <a:t>- Nested list support up to three levels.</a:t>
            </a:r>
          </a:p>
          <a:p>
            <a:r>
              <a:t>- List content stays in text flow inside the body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Blockquote rendered as text-flow content.</a:t>
            </a:r>
          </a:p>
          <a:p>
            <a:r>
              <a:t>- Fenced code block rendering in the body placeholder.</a:t>
            </a:r>
          </a:p>
          <a:p>
            <a:r>
              <a:t>- Indented code blocks are intentionally unsupported by the parser.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Pipe table markdown support.</a:t>
            </a:r>
          </a:p>
          <a:p>
            <a:r>
              <a:t>- Table rendered as a native PowerPoint table object.</a:t>
            </a:r>
          </a:p>
          <a:p>
            <a:r>
              <a:t>- Content documents key parser and renderer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Local image path resolved relative to the markdown file.</a:t>
            </a:r>
          </a:p>
          <a:p>
            <a:r>
              <a:t>- Standalone image paragraph rendered into the content region.</a:t>
            </a:r>
          </a:p>
          <a:p>
            <a:r>
              <a:t>- The same local asset is later reused as a slide background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Title Only layout selected in slide front matter.</a:t>
            </a:r>
          </a:p>
          <a:p>
            <a:r>
              <a:t>- Slide-level background image using url(...) syntax.</a:t>
            </a:r>
          </a:p>
          <a:p>
            <a:r>
              <a:t>- Title Only slide has no body content, matching the enforced layout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Remote image download at render time.</a:t>
            </a:r>
          </a:p>
          <a:p>
            <a:r>
              <a:t>- Downloaded image embedded directly into the PPTX.</a:t>
            </a:r>
          </a:p>
          <a:p>
            <a:r>
              <a:t>- Image-only content rendered in the content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Slide-level radial-gradient background override.</a:t>
            </a:r>
          </a:p>
          <a:p>
            <a:r>
              <a:t>- Radial gradients use the constrained gradient syntax supported by the parser.</a:t>
            </a:r>
          </a:p>
          <a:p>
            <a:r>
              <a:t>- Gradient stops can reference theme colors via var(--theme-slot).</a:t>
            </a:r>
          </a:p>
          <a:p>
            <a:r>
              <a:t>- Content still uses the standard title and body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background: none to remove explicit slide fill.</a:t>
            </a:r>
          </a:p>
          <a:p>
            <a:r>
              <a:t>- hide_background_graphics: true to disable inherited master graphics.</a:t>
            </a:r>
          </a:p>
          <a:p>
            <a:r>
              <a:t>- Title Only layout with title text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shown:</a:t>
            </a:r>
          </a:p>
          <a:p>
            <a:r>
              <a:t>- Blank layout selected explicitly.</a:t>
            </a:r>
          </a:p>
          <a:p>
            <a:r>
              <a:t>- Empty H1 title and empty body satisfy blank slide validation rules.</a:t>
            </a:r>
          </a:p>
          <a:p>
            <a:r>
              <a:t>- Notes can still carry metadata even when the visible slide is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93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60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66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540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7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043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024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21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82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1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9308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lt1"/>
            </a:gs>
            <a:gs pos="100000">
              <a:schemeClr val="lt2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32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ython-pptx.readthedocs.io/en/latest/" TargetMode="External"/><Relationship Id="rId3" Type="http://schemas.openxmlformats.org/officeDocument/2006/relationships/hyperlink" Target="https://docs.astral.sh/uv/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markdown-slides showcase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Markdown in. Editable PowerPoint out.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E2841"/>
            </a:gs>
            <a:gs pos="100000">
              <a:srgbClr val="156082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What this deck demonstrates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Layouts, front matter, lists, headings, code, tables, images, notes, and backgrounds.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1"/>
                </a:solidFill>
              </a:defRPr>
            </a:pPr>
            <a:r>
              <a:rPr>
                <a:solidFill>
                  <a:schemeClr val="accent1"/>
                </a:solidFill>
              </a:rPr>
              <a:t>Paragraphs and inline formatting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paragraph shows </a:t>
            </a:r>
            <a:r>
              <a:rPr b="1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strong text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1">
                <a:latin typeface="+mn-lt"/>
                <a:ea typeface="+mn-ea"/>
                <a:cs typeface="+mn-cs"/>
                <a:solidFill>
                  <a:schemeClr val="dk1"/>
                </a:solidFill>
              </a:rPr>
              <a:t>emphasis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</a:t>
            </a:r>
            <a:r>
              <a:rPr b="0" i="0">
                <a:latin typeface="Consolas"/>
                <a:solidFill>
                  <a:schemeClr val="dk1"/>
                </a:solidFill>
              </a:rPr>
              <a:t>inline code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in the body placeholder.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Links also work as standard markdown, like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python-pptx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</a:t>
            </a:r>
            <a:r>
              <a:rPr b="0" i="0">
                <a:hlinkClick r:id="rId3"/>
                <a:latin typeface="+mn-lt"/>
                <a:ea typeface="+mn-ea"/>
                <a:cs typeface="+mn-cs"/>
                <a:solidFill>
                  <a:schemeClr val="dk1"/>
                </a:solidFill>
              </a:rPr>
              <a:t>uv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The deck-level font mapping uses the Body font for paragraphs and the Headings font for slide titles and body headings.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H2 through H6 stay inside the same slide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H2 heading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H2 is rendered in the body flow rather than starting a new slide.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34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H3 heading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This keeps the markdown readable while still allowing structure inside a slide.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31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H4 heading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The renderer applies descending heading sizes.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29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H5 heading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H5 still stays clearly above body text.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28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H6 heading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H6 is supported too.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Lists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Bulleted list</a:t>
            </a:r>
            <a:endParaRPr>
              <a:solidFill>
                <a:schemeClr val="dk2"/>
              </a:solidFill>
            </a:endParaRPr>
          </a:p>
          <a:p>
            <a:pPr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First bullet</a:t>
            </a:r>
            <a:endParaRPr>
              <a:solidFill>
                <a:schemeClr val="dk2"/>
              </a:solidFill>
            </a:endParaRPr>
          </a:p>
          <a:p>
            <a:pPr lvl="1"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Nested bullet level two</a:t>
            </a:r>
            <a:endParaRPr>
              <a:solidFill>
                <a:schemeClr val="dk2"/>
              </a:solidFill>
            </a:endParaRPr>
          </a:p>
          <a:p>
            <a:pPr lvl="2"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Nested bullet level three</a:t>
            </a:r>
            <a:endParaRPr>
              <a:solidFill>
                <a:schemeClr val="dk2"/>
              </a:solidFill>
            </a:endParaRPr>
          </a:p>
          <a:p>
            <a:pPr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Second bullet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2"/>
                </a:solidFill>
              </a:rPr>
              <a:t>Ordered list</a:t>
            </a:r>
            <a:endParaRPr>
              <a:solidFill>
                <a:schemeClr val="dk2"/>
              </a:solidFill>
            </a:endParaRPr>
          </a:p>
          <a:p>
            <a:pPr>
              <a:buAutoNum type="arabicPeriod" startAt="1"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First step</a:t>
            </a:r>
            <a:endParaRPr>
              <a:solidFill>
                <a:schemeClr val="dk2"/>
              </a:solidFill>
            </a:endParaRPr>
          </a:p>
          <a:p>
            <a:pPr>
              <a:buAutoNum type="arabicPeriod" startAt="2"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Second step</a:t>
            </a:r>
            <a:endParaRPr>
              <a:solidFill>
                <a:schemeClr val="dk2"/>
              </a:solidFill>
            </a:endParaRPr>
          </a:p>
          <a:p>
            <a:pPr lvl="1">
              <a:buAutoNum type="arabicPeriod" startAt="1"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Nested ordered item</a:t>
            </a:r>
            <a:endParaRPr>
              <a:solidFill>
                <a:schemeClr val="dk2"/>
              </a:solidFill>
            </a:endParaRPr>
          </a:p>
          <a:p>
            <a:pPr lvl="1">
              <a:buAutoNum type="arabicPeriod" startAt="2"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Another nested ordered item</a:t>
            </a:r>
            <a:endParaRPr>
              <a:solidFill>
                <a:schemeClr val="dk2"/>
              </a:solidFill>
            </a:endParaRPr>
          </a:p>
          <a:p>
            <a:pPr>
              <a:buAutoNum type="arabicPeriod" startAt="3"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Third step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Blockquotes and fenced code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i="1">
                <a:latin typeface="+mn-lt"/>
                <a:ea typeface="+mn-ea"/>
                <a:cs typeface="+mn-cs"/>
                <a:solidFill>
                  <a:schemeClr val="accent1"/>
                </a:solidFill>
              </a:rPr>
              <a:t>This blockquote stays in the text flow and renders as styled text in the body placeholder.</a:t>
            </a: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Consolas"/>
                <a:solidFill>
                  <a:schemeClr val="dk2"/>
                </a:solidFill>
              </a:rPr>
              <a:t>def render_slide(title: str, body: str) -&gt; str:</a:t>
            </a:r>
            <a:endParaRPr>
              <a:solidFill>
                <a:schemeClr val="dk2"/>
              </a:solidFill>
            </a:endParaRPr>
          </a:p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Consolas"/>
                <a:solidFill>
                  <a:schemeClr val="dk2"/>
                </a:solidFill>
              </a:rPr>
              <a:t>    return f"{title}: {body}"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Pipe table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3505200"/>
                <a:gridCol w="3505200"/>
                <a:gridCol w="3505200"/>
              </a:tblGrid>
              <a:tr h="1087834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</a:tr>
              <a:tr h="1087834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H1 slide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Heading starts a new slide</a:t>
                      </a:r>
                    </a:p>
                  </a:txBody>
                  <a:tcPr/>
                </a:tc>
              </a:tr>
              <a:tr h="1087834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Slide front matter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Allowed only immediately after an H1</a:t>
                      </a:r>
                    </a:p>
                  </a:txBody>
                  <a:tcPr/>
                </a:tc>
              </a:tr>
              <a:tr h="108783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Placeholder fallback textboxes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Missing required placeholders are errors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Local image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Background image via slide front matter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Remote image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55000">
              <a:schemeClr val="accent2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Radial gradient background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2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2"/>
                </a:solidFill>
              </a:rPr>
              <a:t>This slide demonstrates a radial gradient background applied directly to the slide.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>
                <a:solidFill>
                  <a:schemeClr val="dk1"/>
                </a:solidFill>
              </a:rPr>
              <a:t>No background fill on this slide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0E2841"/>
      </ns0:dk2>
      <ns0:lt2>
        <ns0:srgbClr val="E8E8E8"/>
      </ns0:lt2>
      <ns0:accent1>
        <ns0:srgbClr val="156082"/>
      </ns0:accent1>
      <ns0:accent2>
        <ns0:srgbClr val="E97132"/>
      </ns0:accent2>
      <ns0:accent3>
        <ns0:srgbClr val="196B24"/>
      </ns0:accent3>
      <ns0:accent4>
        <ns0:srgbClr val="0F9ED5"/>
      </ns0:accent4>
      <ns0:accent5>
        <ns0:srgbClr val="A02B93"/>
      </ns0:accent5>
      <ns0:accent6>
        <ns0:srgbClr val="4EA72E"/>
      </ns0:accent6>
      <ns0:hlink>
        <ns0:srgbClr val="467886"/>
      </ns0:hlink>
      <ns0:folHlink>
        <ns0:srgbClr val="96607D"/>
      </ns0:folHlink>
    </ns0:clrScheme>
    <ns0:fontScheme name="Office">
      <ns0:majorFont>
        <ns0:latin typeface="Aptos Display" panose="02110004020202020204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 panose="02110004020202020204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  <ns0:ln w="2540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  <ns0:extLst>
    <ns0:ext uri="{05A4C25C-085E-4340-85A3-A5531E510DB2}">
      <ns1:themeFamily name="Office Theme" id="{2E142A2C-CD16-42D6-873A-C26D2A0506FA}" vid="{1BDDFF52-6CD6-40A5-AB3C-68EB2F1E4D0A}"/>
    </ns0:ext>
  </ns0:extLst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24</Words>
  <Application>Microsoft Office PowerPoint</Application>
  <PresentationFormat>Widescreen</PresentationFormat>
  <Paragraphs>8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Title slide title</vt:lpstr>
      <vt:lpstr>Title and content title</vt:lpstr>
      <vt:lpstr>Section header title</vt:lpstr>
      <vt:lpstr>Title only 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Ellis</dc:creator>
  <cp:lastModifiedBy>Paul Ellis</cp:lastModifiedBy>
  <cp:revision>1</cp:revision>
  <dcterms:created xsi:type="dcterms:W3CDTF">2026-04-20T23:25:17Z</dcterms:created>
  <dcterms:modified xsi:type="dcterms:W3CDTF">2026-04-21T00:57:01Z</dcterms:modified>
</cp:coreProperties>
</file>